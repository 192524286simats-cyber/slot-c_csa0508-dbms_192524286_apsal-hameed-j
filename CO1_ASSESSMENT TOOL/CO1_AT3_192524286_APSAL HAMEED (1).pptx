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16" r:id="rId1"/>
  </p:sldMasterIdLst>
  <p:notesMasterIdLst>
    <p:notesMasterId r:id="rId12"/>
  </p:notesMasterIdLst>
  <p:sldIdLst>
    <p:sldId id="269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70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86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38441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516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71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99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887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446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1773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18837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4942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179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0643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092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0330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6999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52249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829343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64070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5612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920739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88646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611134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9984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46704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0881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46806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217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454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907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8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9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7" r:id="rId1"/>
    <p:sldLayoutId id="2147484318" r:id="rId2"/>
    <p:sldLayoutId id="2147484319" r:id="rId3"/>
    <p:sldLayoutId id="2147484320" r:id="rId4"/>
    <p:sldLayoutId id="2147484321" r:id="rId5"/>
    <p:sldLayoutId id="2147484322" r:id="rId6"/>
    <p:sldLayoutId id="2147484323" r:id="rId7"/>
    <p:sldLayoutId id="2147484324" r:id="rId8"/>
    <p:sldLayoutId id="2147484325" r:id="rId9"/>
    <p:sldLayoutId id="2147484326" r:id="rId10"/>
    <p:sldLayoutId id="2147484327" r:id="rId11"/>
    <p:sldLayoutId id="2147484328" r:id="rId12"/>
    <p:sldLayoutId id="2147484329" r:id="rId13"/>
    <p:sldLayoutId id="2147484330" r:id="rId14"/>
    <p:sldLayoutId id="2147484331" r:id="rId15"/>
    <p:sldLayoutId id="2147484332" r:id="rId16"/>
    <p:sldLayoutId id="2147484333" r:id="rId17"/>
    <p:sldLayoutId id="2147484334" r:id="rId18"/>
    <p:sldLayoutId id="2147484335" r:id="rId19"/>
    <p:sldLayoutId id="2147484336" r:id="rId20"/>
    <p:sldLayoutId id="2147484337" r:id="rId21"/>
    <p:sldLayoutId id="2147484338" r:id="rId22"/>
    <p:sldLayoutId id="2147484339" r:id="rId23"/>
    <p:sldLayoutId id="2147484340" r:id="rId24"/>
    <p:sldLayoutId id="2147484341" r:id="rId25"/>
    <p:sldLayoutId id="2147484342" r:id="rId26"/>
    <p:sldLayoutId id="2147484343" r:id="rId27"/>
    <p:sldLayoutId id="2147484344" r:id="rId28"/>
    <p:sldLayoutId id="2147484345" r:id="rId29"/>
  </p:sldLayoutIdLst>
  <p:hf sldNum="0" hdr="0" ftr="0" dt="0"/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8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9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9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9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9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9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9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9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76578" y="1977931"/>
            <a:ext cx="4667846" cy="132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37"/>
              </a:lnSpc>
            </a:pP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1521441" y="3468978"/>
            <a:ext cx="9266465" cy="274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875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BASE MANAGEMENT SYSTEM – CSA0508</a:t>
            </a:r>
          </a:p>
          <a:p>
            <a:pPr algn="ctr"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75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                                                                                      PRESENTED BY:</a:t>
            </a:r>
          </a:p>
          <a:p>
            <a:pPr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75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AYYAPPAN G                                                 APSAL HAMEED J (192524286)</a:t>
            </a:r>
          </a:p>
          <a:p>
            <a:pPr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75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</a:t>
            </a:r>
          </a:p>
          <a:p>
            <a:pPr algn="r">
              <a:lnSpc>
                <a:spcPts val="1875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76578" y="4764063"/>
            <a:ext cx="466784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endParaRPr lang="en-US" sz="1157" dirty="0"/>
          </a:p>
        </p:txBody>
      </p:sp>
      <p:pic>
        <p:nvPicPr>
          <p:cNvPr id="1030" name="Picture 6" descr="SIMATS ENGINEERING —Profile">
            <a:extLst>
              <a:ext uri="{FF2B5EF4-FFF2-40B4-BE49-F238E27FC236}">
                <a16:creationId xmlns:a16="http://schemas.microsoft.com/office/drawing/2014/main" id="{0DB39B9C-6ABD-0C0C-B80E-DAA10C76F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59" y="173422"/>
            <a:ext cx="10384404" cy="121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CAB67-4060-C4EA-5F0E-212E8CA41F09}"/>
              </a:ext>
            </a:extLst>
          </p:cNvPr>
          <p:cNvSpPr txBox="1"/>
          <p:nvPr/>
        </p:nvSpPr>
        <p:spPr>
          <a:xfrm>
            <a:off x="2298222" y="1942472"/>
            <a:ext cx="78462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LIBRARY SYSTEM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Library System —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lets members search a digital catalog, borrow and return physical copies, place reservations on unavailable titles, and leave reviews — while staff manage inventory, categories, and circulation</a:t>
            </a: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8461" y="314080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986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browse the book catalog by title, author, or category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3931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6557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and return books with due-date tracking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325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titles that are currently checked out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7316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994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review books after reading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34009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66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 inventory, publishers, and members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3952" y="1581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213055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22592" y="1563624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Authors,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Publishers, Categories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417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9217152" y="1581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213055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65792" y="1563624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records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profiles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28803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3952" y="3044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359359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22592" y="3026664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52560" y="28803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9217152" y="3044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9217152" y="359359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65792" y="3026664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Core Entities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813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093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011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who borrow books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4813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4813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6093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7992" y="2011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 title with copies in stock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14813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0" y="14813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16093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11312" y="2011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wrote one or more books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815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2095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3611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that published a book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51960" y="30815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30815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32095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7992" y="3611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/ subject classification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55280" y="30815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0" y="30815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32095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11312" y="3611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a book borrowed by a member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6817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6817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809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4672" y="5212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 placed on an unavailable book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51960" y="46817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51960" y="46817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4507992" y="4809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07992" y="5212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who manage circulation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955280" y="4681728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55280" y="4681728"/>
            <a:ext cx="73152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/>
          <p:nvPr/>
        </p:nvSpPr>
        <p:spPr>
          <a:xfrm>
            <a:off x="8211312" y="4809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11312" y="5212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member's rating &amp; comment on a book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DETAIL  • 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Entity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anyone registered to use the library. A Member can hold many Loans and Reservations, and write many Reviews — the person at the center of every circulation activity.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borrowing action must be traced back to a person for due dates, fines, and history — Member is the anchor entity for accountability.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AEB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417320"/>
            <a:ext cx="45720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417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12280" y="212140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121408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87768" y="210312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2505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907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2280" y="3712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4517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MembershipStatus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DETAIL  • 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Entity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item at the heart of the system. Each Book links to one or more Authors, one Publisher, one or more Categories, and generates Loans, Reservations, and Reviews.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CopiesAvailable drives real-time availability shown to members, and is decremented/incremented as Loans and Returns occur.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4572000" cy="3794760"/>
          </a:xfrm>
          <a:prstGeom prst="roundRect">
            <a:avLst>
              <a:gd name="adj" fmla="val 1928"/>
            </a:avLst>
          </a:prstGeom>
          <a:solidFill>
            <a:srgbClr val="F7F8FC"/>
          </a:solidFill>
          <a:ln w="12700">
            <a:solidFill>
              <a:srgbClr val="AEB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417320"/>
            <a:ext cx="45720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417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12280" y="212140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121408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87768" y="210312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2505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907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PublicationYear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2280" y="3712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413308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8A93A8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133088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87768" y="411480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4517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CopiesAvailable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4919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TotalCopies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DETAIL  • 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&amp; Publisher Entities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9047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credited with writing a book. Modeled separately because one book can have multiple authors, and one author can write many books (a many-to-many relationship).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AEB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52120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2608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98448" y="2907792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758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Biography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49047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that produced a book edition. Kept separate from Book because one publisher releases many books, but each book edition has one publisher (a one-to-many relationship).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28600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AEB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286000"/>
            <a:ext cx="52120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286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292608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92608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13448" y="2907792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6758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0599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ContactEmail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DETAIL  • 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&amp; Reservation Entities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and Books share a many-to-many relationship — one member borrows many books, and one book is borrowed by many members over time. Loan and Reservation are associative entities that resolve this: each row pairs one Member with one Book and adds transaction-specific detail.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 w="12700">
            <a:solidFill>
              <a:srgbClr val="AEB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52120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98448" y="2862072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26440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8A93A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64408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98448" y="324612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648456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8A93A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48456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98448" y="3630168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01421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3982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DueDate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24028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 w="12700">
            <a:solidFill>
              <a:srgbClr val="AEB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240280"/>
            <a:ext cx="52120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240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37960" y="288036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88036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13448" y="2862072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ReservationID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326440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8A93A8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264408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13448" y="324612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3648456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8A93A8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648456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13448" y="3630168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401421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ReservationDate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43982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Cardinality &amp; Key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52044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(1:1)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075688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directly in this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40487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in Entity A relates to exactly one row in Entity B, and vice versa.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508760"/>
            <a:ext cx="352044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70992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 (1:N)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53128" y="2075688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→ Book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53128" y="240487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publisher can publish many books, but each book has exactly one publisher.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0" y="1508760"/>
            <a:ext cx="352044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70992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 (M:N)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56448" y="2075688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↔ Author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56448" y="240487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 can have several authors, and an author can write several books. Resolved with a linking table if needed.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&amp; Foreign Keys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26110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9651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has a Primary Key (PK) — a unique identifier such as BookID or MemberID.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91947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7548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(FK) stores another entity's PK to record a link, e.g. Loan.MemberID references Member.MemberID.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4132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and Reservation each hold two foreign keys, which is what lets them resolve a many-to-many relationship between Member and Book.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029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Foundation for the Library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well-defined entities and their relationships give the Online Library System a data model that is accurate, scalable, and easy to translate directly into database tables.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9535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ownership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2918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book, loan, and review traces back to exactly one accountable member or staff record.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9535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catalog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32918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can have multiple authors and categories without duplicating data.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64515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availability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9834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and Reservation entities keep real-time stock counts trustworthy.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64515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implement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49834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maps directly to a normalized database table with clear PK/FK links.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1D92-14D7-7238-14BB-849BF2CA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28" y="337457"/>
            <a:ext cx="8825658" cy="33295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10272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8</TotalTime>
  <Words>800</Words>
  <Application>Microsoft Office PowerPoint</Application>
  <PresentationFormat>Widescreen</PresentationFormat>
  <Paragraphs>163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School Days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PptxGenJS Presentation</dc:subject>
  <dc:creator>vijay krishnan</dc:creator>
  <cp:lastModifiedBy>Apsal Hameed J</cp:lastModifiedBy>
  <cp:revision>3</cp:revision>
  <dcterms:created xsi:type="dcterms:W3CDTF">2026-07-21T06:15:20Z</dcterms:created>
  <dcterms:modified xsi:type="dcterms:W3CDTF">2026-07-23T08:40:57Z</dcterms:modified>
</cp:coreProperties>
</file>